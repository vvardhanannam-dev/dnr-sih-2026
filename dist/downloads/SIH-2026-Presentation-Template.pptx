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1pPr>
    <a:lvl2pPr marL="4572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2pPr>
    <a:lvl3pPr marL="9144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3pPr>
    <a:lvl4pPr marL="13716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4pPr>
    <a:lvl5pPr marL="18288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>
        <p:scale>
          <a:sx n="73" d="100"/>
          <a:sy n="73" d="100"/>
        </p:scale>
        <p:origin x="55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‹#›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9/4/2026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442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ＭＳ Ｐゴシック" pitchFamily="1" charset="-128"/>
      </a:defRPr>
    </a:lvl1pPr>
    <a:lvl2pPr marL="4572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2pPr>
    <a:lvl3pPr marL="9144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3pPr>
    <a:lvl4pPr marL="13716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4pPr>
    <a:lvl5pPr marL="18288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charset="0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1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1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2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37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22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3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46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005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4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5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56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074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5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6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65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318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6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3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74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312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7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83" name="对象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</a:ln>
        </p:spPr>
      </p:sp>
      <p:sp>
        <p:nvSpPr>
          <p:cNvPr id="84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14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199" cy="14700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radeGothic" charset="0"/>
                <a:ea typeface="ＭＳ Ｐゴシック" pitchFamily="1" charset="-128"/>
                <a:cs typeface="Lucida Sans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TradeGothic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Lucida Sans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9/4/2026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/>
          </p:nvPr>
        </p:nvSpPr>
        <p:spPr>
          <a:xfrm>
            <a:off x="4165600" y="6356352"/>
            <a:ext cx="3860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65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9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6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33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67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15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36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32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6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04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7" name="文本框"/>
          <p:cNvSpPr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9/4/2026</a:t>
            </a:fld>
            <a:endParaRPr lang="zh-CN" altLang="en-US" sz="120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ftr"/>
          </p:nvPr>
        </p:nvSpPr>
        <p:spPr>
          <a:xfrm>
            <a:off x="4165600" y="6356352"/>
            <a:ext cx="3860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898989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>
              <a:solidFill>
                <a:srgbClr val="898989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61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9/4/2026</a:t>
            </a:fld>
            <a:endParaRPr lang="zh-CN" altLang="en-US" sz="120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165600" y="6356352"/>
            <a:ext cx="386079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898989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>
              <a:solidFill>
                <a:srgbClr val="898989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33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0" fontAlgn="base" hangingPunct="0"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TradeGothic" charset="0"/>
          <a:ea typeface="ＭＳ Ｐゴシック" pitchFamily="1" charset="-128"/>
          <a:cs typeface="ＭＳ Ｐゴシック" pitchFamily="1" charset="-128"/>
        </a:defRPr>
      </a:lvl1pPr>
    </p:titleStyle>
    <p:bodyStyle>
      <a:lvl1pPr marL="342900" indent="-3429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 charset="0"/>
          <a:ea typeface="ＭＳ Ｐゴシック" pitchFamily="1" charset="-128"/>
          <a:cs typeface="ＭＳ Ｐゴシック" pitchFamily="1" charset="-128"/>
        </a:defRPr>
      </a:lvl1pPr>
      <a:lvl2pPr marL="742950" indent="-28575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 charset="0"/>
          <a:ea typeface="ＭＳ Ｐゴシック" pitchFamily="1" charset="-128"/>
          <a:cs typeface="Calibri" pitchFamily="34" charset="0"/>
        </a:defRPr>
      </a:lvl2pPr>
      <a:lvl3pPr marL="11430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 charset="0"/>
          <a:ea typeface="ＭＳ Ｐゴシック" pitchFamily="1" charset="-128"/>
          <a:cs typeface="Calibri" pitchFamily="34" charset="0"/>
        </a:defRPr>
      </a:lvl3pPr>
      <a:lvl4pPr marL="16002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 charset="0"/>
          <a:ea typeface="ＭＳ Ｐゴシック" pitchFamily="1" charset="-128"/>
          <a:cs typeface="Calibri" pitchFamily="34" charset="0"/>
        </a:defRPr>
      </a:lvl4pPr>
      <a:lvl5pPr marL="20574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 charset="0"/>
          <a:ea typeface="ＭＳ Ｐゴシック" pitchFamily="1" charset="-128"/>
          <a:cs typeface="Calibri" pitchFamily="34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charset="0"/>
          <a:cs typeface="Calibri" pitchFamily="34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charset="0"/>
          <a:cs typeface="Calibri" pitchFamily="34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charset="0"/>
          <a:cs typeface="Calibri" pitchFamily="34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charset="0"/>
          <a:cs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矩形"/>
          <p:cNvSpPr>
            <a:spLocks noChangeAspec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sp>
      <p:sp>
        <p:nvSpPr>
          <p:cNvPr id="19" name="曲线"/>
          <p:cNvSpPr>
            <a:spLocks noChangeAspect="1"/>
          </p:cNvSpPr>
          <p:nvPr/>
        </p:nvSpPr>
        <p:spPr>
          <a:xfrm>
            <a:off x="5656779" y="851521"/>
            <a:ext cx="4638605" cy="515496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268" y="13094"/>
                </a:moveTo>
                <a:cubicBezTo>
                  <a:pt x="1268" y="13094"/>
                  <a:pt x="1268" y="13094"/>
                  <a:pt x="3137" y="13094"/>
                </a:cubicBezTo>
                <a:cubicBezTo>
                  <a:pt x="3254" y="13094"/>
                  <a:pt x="3367" y="13172"/>
                  <a:pt x="3423" y="13297"/>
                </a:cubicBezTo>
                <a:cubicBezTo>
                  <a:pt x="3423" y="13297"/>
                  <a:pt x="3423" y="13297"/>
                  <a:pt x="4360" y="15232"/>
                </a:cubicBezTo>
                <a:cubicBezTo>
                  <a:pt x="4420" y="15352"/>
                  <a:pt x="4420" y="15507"/>
                  <a:pt x="4360" y="15627"/>
                </a:cubicBezTo>
                <a:cubicBezTo>
                  <a:pt x="4360" y="15627"/>
                  <a:pt x="4360" y="15627"/>
                  <a:pt x="3423" y="17562"/>
                </a:cubicBezTo>
                <a:cubicBezTo>
                  <a:pt x="3367" y="17688"/>
                  <a:pt x="3254" y="17765"/>
                  <a:pt x="3137" y="17765"/>
                </a:cubicBezTo>
                <a:cubicBezTo>
                  <a:pt x="3137" y="17765"/>
                  <a:pt x="3137" y="17765"/>
                  <a:pt x="1268" y="17765"/>
                </a:cubicBezTo>
                <a:cubicBezTo>
                  <a:pt x="1147" y="17765"/>
                  <a:pt x="1038" y="17688"/>
                  <a:pt x="977" y="17562"/>
                </a:cubicBezTo>
                <a:cubicBezTo>
                  <a:pt x="977" y="17562"/>
                  <a:pt x="977" y="17562"/>
                  <a:pt x="45" y="15627"/>
                </a:cubicBezTo>
                <a:cubicBezTo>
                  <a:pt x="-15" y="15507"/>
                  <a:pt x="-15" y="15352"/>
                  <a:pt x="45" y="15232"/>
                </a:cubicBezTo>
                <a:cubicBezTo>
                  <a:pt x="45" y="15232"/>
                  <a:pt x="45" y="15232"/>
                  <a:pt x="977" y="13297"/>
                </a:cubicBezTo>
                <a:cubicBezTo>
                  <a:pt x="1038" y="13172"/>
                  <a:pt x="1147" y="13094"/>
                  <a:pt x="1268" y="13094"/>
                </a:cubicBezTo>
              </a:path>
              <a:path w="21600" h="21600">
                <a:moveTo>
                  <a:pt x="8695" y="2388"/>
                </a:moveTo>
                <a:cubicBezTo>
                  <a:pt x="8695" y="2388"/>
                  <a:pt x="8695" y="2388"/>
                  <a:pt x="9656" y="2388"/>
                </a:cubicBezTo>
                <a:lnTo>
                  <a:pt x="9768" y="2388"/>
                </a:lnTo>
                <a:lnTo>
                  <a:pt x="9875" y="2609"/>
                </a:lnTo>
                <a:cubicBezTo>
                  <a:pt x="10024" y="2917"/>
                  <a:pt x="10197" y="3275"/>
                  <a:pt x="10399" y="3691"/>
                </a:cubicBezTo>
                <a:cubicBezTo>
                  <a:pt x="10491" y="3876"/>
                  <a:pt x="10491" y="4113"/>
                  <a:pt x="10399" y="4297"/>
                </a:cubicBezTo>
                <a:cubicBezTo>
                  <a:pt x="10399" y="4297"/>
                  <a:pt x="10399" y="4297"/>
                  <a:pt x="8964" y="7260"/>
                </a:cubicBezTo>
                <a:cubicBezTo>
                  <a:pt x="8878" y="7453"/>
                  <a:pt x="8705" y="7571"/>
                  <a:pt x="8526" y="7571"/>
                </a:cubicBezTo>
                <a:cubicBezTo>
                  <a:pt x="8526" y="7571"/>
                  <a:pt x="8526" y="7571"/>
                  <a:pt x="5664" y="7571"/>
                </a:cubicBezTo>
                <a:cubicBezTo>
                  <a:pt x="5617" y="7571"/>
                  <a:pt x="5572" y="7563"/>
                  <a:pt x="5529" y="7549"/>
                </a:cubicBezTo>
                <a:lnTo>
                  <a:pt x="5436" y="7503"/>
                </a:lnTo>
                <a:lnTo>
                  <a:pt x="5493" y="7385"/>
                </a:lnTo>
                <a:cubicBezTo>
                  <a:pt x="6005" y="6323"/>
                  <a:pt x="6660" y="4962"/>
                  <a:pt x="7499" y="3222"/>
                </a:cubicBezTo>
                <a:cubicBezTo>
                  <a:pt x="7748" y="2706"/>
                  <a:pt x="8197" y="2388"/>
                  <a:pt x="8695" y="2388"/>
                </a:cubicBezTo>
              </a:path>
              <a:path w="21600" h="21600">
                <a:moveTo>
                  <a:pt x="5494" y="0"/>
                </a:moveTo>
                <a:cubicBezTo>
                  <a:pt x="5494" y="0"/>
                  <a:pt x="5494" y="0"/>
                  <a:pt x="8722" y="0"/>
                </a:cubicBezTo>
                <a:cubicBezTo>
                  <a:pt x="8925" y="0"/>
                  <a:pt x="9120" y="133"/>
                  <a:pt x="9217" y="350"/>
                </a:cubicBezTo>
                <a:cubicBezTo>
                  <a:pt x="9217" y="350"/>
                  <a:pt x="9217" y="350"/>
                  <a:pt x="10085" y="2142"/>
                </a:cubicBezTo>
                <a:lnTo>
                  <a:pt x="10183" y="2345"/>
                </a:lnTo>
                <a:lnTo>
                  <a:pt x="10106" y="2345"/>
                </a:lnTo>
                <a:lnTo>
                  <a:pt x="9742" y="2345"/>
                </a:lnTo>
                <a:lnTo>
                  <a:pt x="9583" y="2018"/>
                </a:lnTo>
                <a:cubicBezTo>
                  <a:pt x="8978" y="768"/>
                  <a:pt x="8978" y="768"/>
                  <a:pt x="8978" y="768"/>
                </a:cubicBezTo>
                <a:cubicBezTo>
                  <a:pt x="8892" y="575"/>
                  <a:pt x="8719" y="457"/>
                  <a:pt x="8539" y="457"/>
                </a:cubicBezTo>
                <a:cubicBezTo>
                  <a:pt x="5677" y="457"/>
                  <a:pt x="5677" y="457"/>
                  <a:pt x="5677" y="457"/>
                </a:cubicBezTo>
                <a:cubicBezTo>
                  <a:pt x="5492" y="457"/>
                  <a:pt x="5325" y="575"/>
                  <a:pt x="5232" y="768"/>
                </a:cubicBezTo>
                <a:cubicBezTo>
                  <a:pt x="3804" y="3731"/>
                  <a:pt x="3804" y="3731"/>
                  <a:pt x="3804" y="3731"/>
                </a:cubicBezTo>
                <a:cubicBezTo>
                  <a:pt x="3711" y="3915"/>
                  <a:pt x="3711" y="4152"/>
                  <a:pt x="3804" y="4337"/>
                </a:cubicBezTo>
                <a:cubicBezTo>
                  <a:pt x="5232" y="7300"/>
                  <a:pt x="5232" y="7300"/>
                  <a:pt x="5232" y="7300"/>
                </a:cubicBezTo>
                <a:cubicBezTo>
                  <a:pt x="5278" y="7396"/>
                  <a:pt x="5343" y="7473"/>
                  <a:pt x="5420" y="7527"/>
                </a:cubicBezTo>
                <a:lnTo>
                  <a:pt x="5442" y="7538"/>
                </a:lnTo>
                <a:lnTo>
                  <a:pt x="5325" y="7779"/>
                </a:lnTo>
                <a:lnTo>
                  <a:pt x="5239" y="7959"/>
                </a:lnTo>
                <a:lnTo>
                  <a:pt x="5328" y="8004"/>
                </a:lnTo>
                <a:cubicBezTo>
                  <a:pt x="5377" y="8020"/>
                  <a:pt x="5428" y="8029"/>
                  <a:pt x="5480" y="8029"/>
                </a:cubicBezTo>
                <a:cubicBezTo>
                  <a:pt x="8709" y="8029"/>
                  <a:pt x="8709" y="8029"/>
                  <a:pt x="8709" y="8029"/>
                </a:cubicBezTo>
                <a:cubicBezTo>
                  <a:pt x="8911" y="8029"/>
                  <a:pt x="9106" y="7895"/>
                  <a:pt x="9204" y="7678"/>
                </a:cubicBezTo>
                <a:cubicBezTo>
                  <a:pt x="10821" y="4336"/>
                  <a:pt x="10821" y="4336"/>
                  <a:pt x="10821" y="4336"/>
                </a:cubicBezTo>
                <a:cubicBezTo>
                  <a:pt x="10926" y="4128"/>
                  <a:pt x="10926" y="3861"/>
                  <a:pt x="10821" y="3653"/>
                </a:cubicBezTo>
                <a:cubicBezTo>
                  <a:pt x="10619" y="3235"/>
                  <a:pt x="10442" y="2869"/>
                  <a:pt x="10288" y="2550"/>
                </a:cubicBezTo>
                <a:lnTo>
                  <a:pt x="10209" y="2388"/>
                </a:lnTo>
                <a:lnTo>
                  <a:pt x="10571" y="2388"/>
                </a:lnTo>
                <a:cubicBezTo>
                  <a:pt x="11698" y="2388"/>
                  <a:pt x="13499" y="2388"/>
                  <a:pt x="16382" y="2388"/>
                </a:cubicBezTo>
                <a:cubicBezTo>
                  <a:pt x="16863" y="2388"/>
                  <a:pt x="17328" y="2706"/>
                  <a:pt x="17561" y="3222"/>
                </a:cubicBezTo>
                <a:cubicBezTo>
                  <a:pt x="17561" y="3222"/>
                  <a:pt x="17561" y="3222"/>
                  <a:pt x="21413" y="11180"/>
                </a:cubicBezTo>
                <a:cubicBezTo>
                  <a:pt x="21662" y="11676"/>
                  <a:pt x="21662" y="12311"/>
                  <a:pt x="21413" y="12807"/>
                </a:cubicBezTo>
                <a:cubicBezTo>
                  <a:pt x="21413" y="12807"/>
                  <a:pt x="21413" y="12807"/>
                  <a:pt x="17561" y="20766"/>
                </a:cubicBezTo>
                <a:cubicBezTo>
                  <a:pt x="17328" y="21282"/>
                  <a:pt x="16863" y="21600"/>
                  <a:pt x="16382" y="21600"/>
                </a:cubicBezTo>
                <a:cubicBezTo>
                  <a:pt x="16382" y="21600"/>
                  <a:pt x="16382" y="21600"/>
                  <a:pt x="8695" y="21600"/>
                </a:cubicBezTo>
                <a:cubicBezTo>
                  <a:pt x="8197" y="21600"/>
                  <a:pt x="7748" y="21282"/>
                  <a:pt x="7499" y="20766"/>
                </a:cubicBezTo>
                <a:cubicBezTo>
                  <a:pt x="7499" y="20766"/>
                  <a:pt x="7499" y="20766"/>
                  <a:pt x="3664" y="12807"/>
                </a:cubicBezTo>
                <a:cubicBezTo>
                  <a:pt x="3415" y="12311"/>
                  <a:pt x="3415" y="11676"/>
                  <a:pt x="3664" y="11180"/>
                </a:cubicBezTo>
                <a:cubicBezTo>
                  <a:pt x="3664" y="11180"/>
                  <a:pt x="3664" y="11180"/>
                  <a:pt x="5088" y="8225"/>
                </a:cubicBezTo>
                <a:lnTo>
                  <a:pt x="5208" y="7976"/>
                </a:lnTo>
                <a:lnTo>
                  <a:pt x="5204" y="7974"/>
                </a:lnTo>
                <a:cubicBezTo>
                  <a:pt x="5118" y="7913"/>
                  <a:pt x="5044" y="7826"/>
                  <a:pt x="4992" y="7718"/>
                </a:cubicBezTo>
                <a:cubicBezTo>
                  <a:pt x="4992" y="7718"/>
                  <a:pt x="4992" y="7718"/>
                  <a:pt x="3381" y="4375"/>
                </a:cubicBezTo>
                <a:cubicBezTo>
                  <a:pt x="3277" y="4167"/>
                  <a:pt x="3277" y="3900"/>
                  <a:pt x="3381" y="3692"/>
                </a:cubicBezTo>
                <a:cubicBezTo>
                  <a:pt x="3381" y="3692"/>
                  <a:pt x="3381" y="3692"/>
                  <a:pt x="4992" y="350"/>
                </a:cubicBezTo>
                <a:cubicBezTo>
                  <a:pt x="5097" y="133"/>
                  <a:pt x="5285" y="0"/>
                  <a:pt x="5494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25400" cap="flat" cmpd="sng">
            <a:noFill/>
            <a:prstDash val="solid"/>
            <a:round/>
          </a:ln>
        </p:spPr>
      </p:sp>
      <p:pic>
        <p:nvPicPr>
          <p:cNvPr id="20" name="图片"/>
          <p:cNvPicPr>
            <a:picLocks noChangeAspect="1"/>
          </p:cNvPicPr>
          <p:nvPr/>
        </p:nvPicPr>
        <p:blipFill>
          <a:blip r:embed="rId3" cstate="print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1" name="文本框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399" cy="17526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en-US" altLang="zh-CN" sz="32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TITLE PAGE</a:t>
            </a:r>
            <a:endParaRPr lang="zh-CN" altLang="en-US" sz="32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199" cy="20764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rgbClr val="000000"/>
                </a:solidFill>
                <a:latin typeface="Garamond" pitchFamily="18" charset="0"/>
                <a:ea typeface="ＭＳ Ｐゴシック" pitchFamily="1" charset="-128"/>
                <a:cs typeface="Lucida Sans"/>
              </a:rPr>
              <a:t>SMART INDIA HACKATHON 2026</a:t>
            </a:r>
            <a:endParaRPr lang="zh-CN" altLang="en-US" sz="4000" b="0" i="0" u="none" strike="noStrike" kern="1200" cap="none" spc="0" baseline="0">
              <a:solidFill>
                <a:srgbClr val="000000"/>
              </a:solidFill>
              <a:latin typeface="Garamond" pitchFamily="18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 Name (Registered on portal)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965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31" name="文本框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</a:b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IDEA TITLE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>
            <a:off x="-1" y="2064921"/>
            <a:ext cx="12191999" cy="245364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altLang="zh-CN" sz="3200" b="1" i="0" u="sng" strike="noStrike" kern="1200" cap="none" spc="0" baseline="0" dirty="0">
                <a:solidFill>
                  <a:schemeClr val="tx2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Proposed Solution (Describe your Idea/Solution/Prototype)</a:t>
            </a:r>
            <a:endParaRPr lang="en-US" altLang="zh-CN" sz="3200" b="0" i="0" u="sng" strike="noStrike" kern="1200" cap="none" spc="0" baseline="0" dirty="0">
              <a:solidFill>
                <a:schemeClr val="tx2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sng" strike="noStrike" kern="1200" cap="none" spc="0" baseline="0" dirty="0">
              <a:solidFill>
                <a:schemeClr val="tx2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000" b="0" i="0" u="sng" strike="noStrike" kern="1200" cap="none" spc="0" baseline="0" dirty="0">
              <a:solidFill>
                <a:schemeClr val="tx2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Innovation and uniqueness of the solution 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2</a:t>
            </a:fld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chemeClr val="bg1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35" name="椭圆" descr="Your startup LOGO"/>
          <p:cNvSpPr>
            <a:spLocks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charset="0"/>
                <a:cs typeface="Calibri" pitchFamily="34" charset="0"/>
              </a:rPr>
              <a:t>Your Team Name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5C8F77-C759-97C3-C7FB-5592C75DB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6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40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TECHNICAL APPROACH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609600" y="2533653"/>
            <a:ext cx="9385301" cy="180593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Methodology and process for implementation (Flow Charts/Images/ working prototype)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3</a:t>
            </a:fld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43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chemeClr val="bg1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44" name="椭圆" descr="Your startup LOGO"/>
          <p:cNvSpPr>
            <a:spLocks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charset="0"/>
                <a:cs typeface="Calibri" pitchFamily="34" charset="0"/>
              </a:rPr>
              <a:t>Your Team Name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50B32-BBE0-D679-455B-A1E7F01AC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FEASIBILITY AND VIABILITY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>
            <a:off x="609600" y="2533653"/>
            <a:ext cx="9385301" cy="13773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MS PGothic"/>
                <a:cs typeface="Arial" pitchFamily="34" charset="0"/>
              </a:rPr>
              <a:t>Analysis of the feasibility of the idea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MS PGothic"/>
                <a:cs typeface="Arial" pitchFamily="34" charset="0"/>
              </a:rPr>
              <a:t>Potential challenges and risks</a:t>
            </a:r>
          </a:p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 for overcoming these challenges</a:t>
            </a:r>
            <a:endParaRPr lang="zh-CN" altLang="en-US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1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4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53" name="椭圆" descr="Your startup LOGO"/>
          <p:cNvSpPr>
            <a:spLocks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charset="0"/>
                <a:cs typeface="Calibri" pitchFamily="34" charset="0"/>
              </a:rPr>
              <a:t>Your Team Name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0AF54-EC97-C212-6B12-3083BCE87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58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IMPACT AND BENEFITS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>
            <a:off x="609600" y="2533653"/>
            <a:ext cx="9385301" cy="94869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MS PGothic"/>
                <a:cs typeface="Arial" pitchFamily="34" charset="0"/>
              </a:rPr>
              <a:t>Benefits of the solution (social, economic, environmental, etc.)</a:t>
            </a:r>
            <a:endParaRPr lang="zh-CN" altLang="en-US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MS PGothic"/>
              <a:cs typeface="Arial" pitchFamily="34" charset="0"/>
            </a:endParaRPr>
          </a:p>
        </p:txBody>
      </p:sp>
      <p:sp>
        <p:nvSpPr>
          <p:cNvPr id="60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5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61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62" name="椭圆" descr="Your startup LOGO"/>
          <p:cNvSpPr>
            <a:spLocks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charset="0"/>
                <a:cs typeface="Calibri" pitchFamily="34" charset="0"/>
              </a:rPr>
              <a:t>Your Team Name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13C67-BF86-9866-2983-53D44CE0E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7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67" name="文本框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RESEARCH  AND REFERENCES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>
            <a:off x="609600" y="2795263"/>
            <a:ext cx="9385301" cy="52321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indent="-342900" algn="just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MS PGothic"/>
                <a:cs typeface="Arial" pitchFamily="34" charset="0"/>
              </a:rPr>
              <a:t>Details / Links of the reference and research work</a:t>
            </a:r>
            <a:endParaRPr lang="zh-CN" altLang="en-US" sz="2800" b="0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9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6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71" name="椭圆" descr="Your startup LOGO"/>
          <p:cNvSpPr>
            <a:spLocks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charset="0"/>
                <a:cs typeface="Calibri" pitchFamily="34" charset="0"/>
              </a:rPr>
              <a:t>Your Team Name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charset="0"/>
              <a:cs typeface="Calibr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9104C-667D-FBD2-7BF7-707B959E3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9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"/>
          <p:cNvSpPr>
            <a:spLocks/>
          </p:cNvSpPr>
          <p:nvPr/>
        </p:nvSpPr>
        <p:spPr>
          <a:xfrm>
            <a:off x="0" y="6354762"/>
            <a:ext cx="12191999" cy="503237"/>
          </a:xfrm>
          <a:prstGeom prst="rect">
            <a:avLst/>
          </a:prstGeom>
          <a:solidFill>
            <a:srgbClr val="0070C0"/>
          </a:solidFill>
          <a:ln w="9525" cap="flat" cmpd="sng">
            <a:noFill/>
            <a:prstDash val="solid"/>
            <a:miter/>
          </a:ln>
          <a:effectLst>
            <a:outerShdw dist="23000" dir="5400000" rotWithShape="0">
              <a:srgbClr val="808080">
                <a:alpha val="34509"/>
              </a:srgbClr>
            </a:outerShdw>
          </a:effectLst>
        </p:spPr>
      </p:sp>
      <p:sp>
        <p:nvSpPr>
          <p:cNvPr id="76" name="文本框"/>
          <p:cNvSpPr>
            <a:spLocks noGrp="1"/>
          </p:cNvSpPr>
          <p:nvPr>
            <p:ph type="sldNum"/>
          </p:nvPr>
        </p:nvSpPr>
        <p:spPr>
          <a:xfrm>
            <a:off x="8737600" y="6356352"/>
            <a:ext cx="2844799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charset="0"/>
                <a:ea typeface="ＭＳ Ｐゴシック" pitchFamily="1" charset="-128"/>
                <a:cs typeface="Calibri" pitchFamily="34" charset="0"/>
              </a:rPr>
              <a:t>7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7" name="文本框"/>
          <p:cNvSpPr>
            <a:spLocks noGrp="1"/>
          </p:cNvSpPr>
          <p:nvPr>
            <p:ph type="ftr"/>
          </p:nvPr>
        </p:nvSpPr>
        <p:spPr>
          <a:xfrm>
            <a:off x="4648200" y="6356352"/>
            <a:ext cx="32040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charset="0"/>
                <a:ea typeface="宋体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charset="0"/>
              <a:ea typeface="宋体" charset="0"/>
              <a:cs typeface="Calibri" pitchFamily="34" charset="0"/>
            </a:endParaRPr>
          </a:p>
        </p:txBody>
      </p:sp>
      <p:sp>
        <p:nvSpPr>
          <p:cNvPr id="78" name="对角圆角矩形"/>
          <p:cNvSpPr>
            <a:spLocks/>
          </p:cNvSpPr>
          <p:nvPr/>
        </p:nvSpPr>
        <p:spPr>
          <a:xfrm>
            <a:off x="0" y="1791032"/>
            <a:ext cx="12192000" cy="4319199"/>
          </a:xfrm>
          <a:prstGeom prst="round2DiagRect">
            <a:avLst>
              <a:gd name="adj1" fmla="val 16666"/>
              <a:gd name="adj2" fmla="val 4"/>
            </a:avLst>
          </a:prstGeom>
          <a:solidFill>
            <a:srgbClr val="DAE5F2"/>
          </a:solidFill>
          <a:ln w="38100" cap="flat" cmpd="sng">
            <a:solidFill>
              <a:srgbClr val="4A7EBC"/>
            </a:solidFill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sp>
      <p:sp>
        <p:nvSpPr>
          <p:cNvPr id="79" name="矩形"/>
          <p:cNvSpPr>
            <a:spLocks/>
          </p:cNvSpPr>
          <p:nvPr/>
        </p:nvSpPr>
        <p:spPr>
          <a:xfrm>
            <a:off x="367831" y="1915454"/>
            <a:ext cx="11764736" cy="40703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514350" indent="-51435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Kindly keep the maximum slides limit up to six </a:t>
            </a: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(6). </a:t>
            </a: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( Including the title slide) 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Try to avoid paragraphs and post your idea in points /diagrams / Infographics /pictures 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Keep your explanation precise and easy to understand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Idea should be unique and novel. 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You can only use provided template for making the PPT without changing the idea details pointers (mentioned in previous slides).</a:t>
            </a: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You need to save the file in PDF and upload the same on portal. No PPT, Word Doc or any other format will be supported.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514350" indent="-349885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800" b="1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Calibri" pitchFamily="34" charset="0"/>
              <a:cs typeface="Arial" pitchFamily="34" charset="0"/>
              <a:sym typeface="Calibri" pitchFamily="34" charset="0"/>
            </a:endParaRPr>
          </a:p>
          <a:p>
            <a:pPr mar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Arial" pitchFamily="34" charset="0"/>
                <a:ea typeface="Calibri" pitchFamily="34" charset="0"/>
                <a:cs typeface="Arial" pitchFamily="34" charset="0"/>
                <a:sym typeface="Calibri" pitchFamily="34" charset="0"/>
              </a:rPr>
              <a:t>Note - You can delete this slide (Important Pointers) when you upload the details of your idea on SIH portal.</a:t>
            </a:r>
            <a:endParaRPr lang="en-US" altLang="zh-CN" sz="1800" b="1" i="0" u="none" strike="noStrike" kern="1200" cap="none" spc="0" baseline="0">
              <a:solidFill>
                <a:srgbClr val="C00000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914400" lvl="1" indent="-31623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zh-CN" altLang="en-US" sz="2000" b="1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Calibri" pitchFamily="34" charset="0"/>
              <a:cs typeface="Arial" pitchFamily="34" charset="0"/>
              <a:sym typeface="Calibri" pitchFamily="34" charset="0"/>
            </a:endParaRPr>
          </a:p>
        </p:txBody>
      </p:sp>
      <p:sp>
        <p:nvSpPr>
          <p:cNvPr id="80" name="矩形"/>
          <p:cNvSpPr>
            <a:spLocks/>
          </p:cNvSpPr>
          <p:nvPr/>
        </p:nvSpPr>
        <p:spPr>
          <a:xfrm>
            <a:off x="1393370" y="107066"/>
            <a:ext cx="8410539" cy="6343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IMPORTANT INSTRUCTIONS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>
            <a:off x="602343" y="1181900"/>
            <a:ext cx="9557656" cy="33147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00000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Please ensure below pointers are met while submitting the Idea PPT:</a:t>
            </a:r>
            <a:endParaRPr lang="zh-CN" altLang="en-US" sz="1800" b="1" i="0" u="none" strike="noStrike" kern="1200" cap="none" spc="0" baseline="0">
              <a:solidFill>
                <a:srgbClr val="000000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AD970-55A3-26BD-913B-C4B5B7489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08" y="88973"/>
            <a:ext cx="2201091" cy="9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2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7506</TotalTime>
  <Words>339</Words>
  <Application>Microsoft Office PowerPoint</Application>
  <PresentationFormat>Widescreen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Vishnu Annan</cp:lastModifiedBy>
  <cp:revision>148</cp:revision>
  <dcterms:created xsi:type="dcterms:W3CDTF">2013-12-12T18:46:50Z</dcterms:created>
  <dcterms:modified xsi:type="dcterms:W3CDTF">2026-09-04T09:25:24Z</dcterms:modified>
</cp:coreProperties>
</file>